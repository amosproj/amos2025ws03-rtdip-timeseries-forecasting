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3E9F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56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342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25ED8-7227-4C5A-9A12-CD9A30476C2A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42AB3C-4578-4C00-8959-C2C2E8368D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6501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BA574-3DD3-22E7-39E8-CBD73C19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285F40-9484-541B-1B2A-4E8F40CE7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3AA584E-6269-D142-3E50-D59095476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851A76-A163-F535-0B46-24E730104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658DD7-3C93-432C-BFB0-17FAFE045C93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4374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34E9E9-84FB-57EF-77FF-4E213CB8F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354D523-5098-CE4E-CE56-9D9542421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126111-FFCE-242B-49F0-D4D1C8B4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90C081-A51B-B7ED-11D2-53D5DDEC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73AD2B-BF42-64B7-164C-54F8A5F2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564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7B2156-C665-40F2-E641-C34850B69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D41B9A-A03B-DDD7-696C-F860ECBF5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37BE04-8ECB-96AC-CE8C-6DBFBF573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6000A0-E40F-C303-E689-08269915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3DD7FF-EE61-06AD-6EF7-66D034F1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359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999794-8401-65DD-1A4F-27D9EE84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FAABA5-F5BC-03BC-04D8-931105359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DE9E94-1719-E29B-6874-2B3F4A5C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D056EC-6665-FA4D-F385-41361BFA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C95180-8B8E-F5A0-A90E-6125B9C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62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6E1138-CE85-A627-C1F4-5CF0E074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E7A8C7-FD00-1CA0-E9D7-4D0CB185E3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7710CD-6962-24D9-649C-2A8AA3C32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D5C290-83E6-4D3F-BDC4-17336EC51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325DEA6-E50A-CC32-CE0F-2C6D424F1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71426D-4A5D-8836-50A8-BE9F17904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2923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7EDBFF-75B1-7797-22F3-AE09E35F3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C59CC5-78CB-51B0-C90B-A19520C9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1BE088A-6B1D-E1C9-35F0-F3D9D9729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A76CEFE-1982-FA79-F1F1-78CAEDAE5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2C0BD07-70FF-97CA-E688-EF2F6C360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4728784-EF5D-E61B-5BFF-DF6B8A37E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3B8B57E-FCC8-940F-014B-29F54A4CF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624AC9-C575-EF7A-8196-E7D10455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763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0CA84-BE54-DF46-5B3B-B6184DE61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474CDD7-24A7-AC0B-BA87-D9D6282B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E55A49-DBF2-6669-8019-2F4B3C6F7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16D555A-CF6F-114A-ABD4-C2048815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42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C6F8D45-AFE1-9EBA-26DA-3B71B4E4D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CC3BBAE-8B60-346E-BF1D-36B4C1E8B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BD582A-BBA1-09FB-154F-8AFBBC30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0226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041EFB-E220-454A-DF88-E8B3FC66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719942-7590-7177-9113-C804AD4D1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C1D7DF-4E0E-AC94-A579-A0B45EB56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A0268E-C219-27E2-4811-C6030403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F55EE5-49A4-D951-7A98-BA4EDA87A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955B02-1463-B896-7ACD-B65AAE89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1140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D0A5DD-DF72-4B6C-3E5D-36A197E0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2075C36-0DD5-B9C7-1FE7-0D744176F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F3231C-B2FA-332B-BD68-B79D4305F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2125755-3B31-8FB6-CB33-74E95DEE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458457-F708-31F0-2CD8-20FCADF3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1F9CCB-C3DC-7D21-FB84-3AE5E650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61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F2BE8D-5663-CD03-8371-D781BC5CC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24D4629-79B0-2170-4860-BE3B0445B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17226-2A24-536D-F290-52B5474E9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E60A97-72F8-F33D-C199-DA24C3D0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A5733A-B638-09BA-30AA-CC558A62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7238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7ABD7AC-37B8-A415-504E-F9DFE51332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E0C5A3E-521A-4CAA-66B4-EB23482F5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E0F134-9A85-6E5A-ADFB-B0371A7B5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80264A-F48F-B6F6-B595-6664C648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3FA334-9393-8B3A-D114-96A2DFEE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853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93A41AE-AFA9-E076-DB05-ABE817A2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E9A5C5-704F-EEAC-A603-41DB14D12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0BDE3C-B92D-9212-B9C4-438C6C536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FF94B-394A-45FA-A4AD-3D117DB79975}" type="datetimeFigureOut">
              <a:rPr lang="de-DE" smtClean="0"/>
              <a:t>26.01.2026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E2091-598E-F5E4-A214-4EB63442F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30E398-935E-C09C-EA9E-92F14998F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BBA59-5D59-4ED0-9458-0F2F985D7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25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0CF9B-14AE-365F-56B8-5BDD8422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58CCF0E8-7183-6B54-0936-3FE63B575D2B}"/>
              </a:ext>
            </a:extLst>
          </p:cNvPr>
          <p:cNvSpPr/>
          <p:nvPr/>
        </p:nvSpPr>
        <p:spPr>
          <a:xfrm>
            <a:off x="1369444" y="2070841"/>
            <a:ext cx="6064957" cy="1899156"/>
          </a:xfrm>
          <a:prstGeom prst="roundRect">
            <a:avLst>
              <a:gd name="adj" fmla="val 4704"/>
            </a:avLst>
          </a:prstGeom>
          <a:solidFill>
            <a:srgbClr val="003399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Sechseck 1">
            <a:extLst>
              <a:ext uri="{FF2B5EF4-FFF2-40B4-BE49-F238E27FC236}">
                <a16:creationId xmlns:a16="http://schemas.microsoft.com/office/drawing/2014/main" id="{832C9E05-7675-E8CC-6301-1FA7EF4662F0}"/>
              </a:ext>
            </a:extLst>
          </p:cNvPr>
          <p:cNvSpPr/>
          <p:nvPr/>
        </p:nvSpPr>
        <p:spPr>
          <a:xfrm rot="16200000">
            <a:off x="8698518" y="4502627"/>
            <a:ext cx="2335272" cy="2013165"/>
          </a:xfrm>
          <a:prstGeom prst="hexagon">
            <a:avLst/>
          </a:prstGeom>
          <a:noFill/>
          <a:ln w="76200">
            <a:solidFill>
              <a:srgbClr val="D445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echseck 2">
            <a:extLst>
              <a:ext uri="{FF2B5EF4-FFF2-40B4-BE49-F238E27FC236}">
                <a16:creationId xmlns:a16="http://schemas.microsoft.com/office/drawing/2014/main" id="{51420D76-7391-C8CA-4125-D07C79C692E3}"/>
              </a:ext>
            </a:extLst>
          </p:cNvPr>
          <p:cNvSpPr/>
          <p:nvPr/>
        </p:nvSpPr>
        <p:spPr>
          <a:xfrm rot="16200000">
            <a:off x="7539536" y="2422417"/>
            <a:ext cx="2335272" cy="2013165"/>
          </a:xfrm>
          <a:prstGeom prst="hexagon">
            <a:avLst/>
          </a:prstGeom>
          <a:noFill/>
          <a:ln w="76200">
            <a:solidFill>
              <a:srgbClr val="00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Sechseck 3">
            <a:extLst>
              <a:ext uri="{FF2B5EF4-FFF2-40B4-BE49-F238E27FC236}">
                <a16:creationId xmlns:a16="http://schemas.microsoft.com/office/drawing/2014/main" id="{C210256F-FF16-0735-6F3E-FC0FC082E240}"/>
              </a:ext>
            </a:extLst>
          </p:cNvPr>
          <p:cNvSpPr/>
          <p:nvPr/>
        </p:nvSpPr>
        <p:spPr>
          <a:xfrm rot="16200000">
            <a:off x="8698519" y="342210"/>
            <a:ext cx="2335272" cy="2013165"/>
          </a:xfrm>
          <a:prstGeom prst="hexagon">
            <a:avLst/>
          </a:prstGeom>
          <a:noFill/>
          <a:ln w="76200">
            <a:solidFill>
              <a:srgbClr val="D445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Sechseck 4">
            <a:extLst>
              <a:ext uri="{FF2B5EF4-FFF2-40B4-BE49-F238E27FC236}">
                <a16:creationId xmlns:a16="http://schemas.microsoft.com/office/drawing/2014/main" id="{DF0DB32C-4A1E-4275-1E75-FEEB0BC88264}"/>
              </a:ext>
            </a:extLst>
          </p:cNvPr>
          <p:cNvSpPr/>
          <p:nvPr/>
        </p:nvSpPr>
        <p:spPr>
          <a:xfrm rot="16200000">
            <a:off x="9868665" y="2422417"/>
            <a:ext cx="2335272" cy="2013165"/>
          </a:xfrm>
          <a:prstGeom prst="hexagon">
            <a:avLst/>
          </a:prstGeom>
          <a:noFill/>
          <a:ln w="76200">
            <a:solidFill>
              <a:srgbClr val="883E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Sechseck 5">
            <a:extLst>
              <a:ext uri="{FF2B5EF4-FFF2-40B4-BE49-F238E27FC236}">
                <a16:creationId xmlns:a16="http://schemas.microsoft.com/office/drawing/2014/main" id="{663C508B-7BF3-4728-C087-B7C6E0888EFC}"/>
              </a:ext>
            </a:extLst>
          </p:cNvPr>
          <p:cNvSpPr/>
          <p:nvPr/>
        </p:nvSpPr>
        <p:spPr>
          <a:xfrm rot="16200000">
            <a:off x="9857502" y="-1738000"/>
            <a:ext cx="2335272" cy="2013165"/>
          </a:xfrm>
          <a:prstGeom prst="hexagon">
            <a:avLst/>
          </a:prstGeom>
          <a:noFill/>
          <a:ln w="76200">
            <a:solidFill>
              <a:srgbClr val="883E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Sechseck 6">
            <a:extLst>
              <a:ext uri="{FF2B5EF4-FFF2-40B4-BE49-F238E27FC236}">
                <a16:creationId xmlns:a16="http://schemas.microsoft.com/office/drawing/2014/main" id="{1602A8D2-B0D8-3558-4D27-1D7C78E2BDD0}"/>
              </a:ext>
            </a:extLst>
          </p:cNvPr>
          <p:cNvSpPr/>
          <p:nvPr/>
        </p:nvSpPr>
        <p:spPr>
          <a:xfrm rot="16200000">
            <a:off x="7539535" y="-1738000"/>
            <a:ext cx="2335272" cy="2013165"/>
          </a:xfrm>
          <a:prstGeom prst="hexagon">
            <a:avLst/>
          </a:prstGeom>
          <a:noFill/>
          <a:ln w="76200">
            <a:solidFill>
              <a:srgbClr val="00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Sechseck 10">
            <a:extLst>
              <a:ext uri="{FF2B5EF4-FFF2-40B4-BE49-F238E27FC236}">
                <a16:creationId xmlns:a16="http://schemas.microsoft.com/office/drawing/2014/main" id="{FFB29945-20C6-F4BB-015F-F6B819404433}"/>
              </a:ext>
            </a:extLst>
          </p:cNvPr>
          <p:cNvSpPr/>
          <p:nvPr/>
        </p:nvSpPr>
        <p:spPr>
          <a:xfrm rot="16200000">
            <a:off x="11027648" y="342206"/>
            <a:ext cx="2335272" cy="2013165"/>
          </a:xfrm>
          <a:prstGeom prst="hexagon">
            <a:avLst/>
          </a:prstGeom>
          <a:noFill/>
          <a:ln w="76200">
            <a:solidFill>
              <a:srgbClr val="00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Sechseck 11">
            <a:extLst>
              <a:ext uri="{FF2B5EF4-FFF2-40B4-BE49-F238E27FC236}">
                <a16:creationId xmlns:a16="http://schemas.microsoft.com/office/drawing/2014/main" id="{152A1DFB-4455-C826-3B80-44A5368CC86B}"/>
              </a:ext>
            </a:extLst>
          </p:cNvPr>
          <p:cNvSpPr/>
          <p:nvPr/>
        </p:nvSpPr>
        <p:spPr>
          <a:xfrm rot="16200000">
            <a:off x="11027648" y="4502627"/>
            <a:ext cx="2335272" cy="2013165"/>
          </a:xfrm>
          <a:prstGeom prst="hexagon">
            <a:avLst/>
          </a:prstGeom>
          <a:noFill/>
          <a:ln w="76200">
            <a:solidFill>
              <a:srgbClr val="00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Sechseck 12">
            <a:extLst>
              <a:ext uri="{FF2B5EF4-FFF2-40B4-BE49-F238E27FC236}">
                <a16:creationId xmlns:a16="http://schemas.microsoft.com/office/drawing/2014/main" id="{23B3B768-2C16-D969-2215-1D22452970CC}"/>
              </a:ext>
            </a:extLst>
          </p:cNvPr>
          <p:cNvSpPr/>
          <p:nvPr/>
        </p:nvSpPr>
        <p:spPr>
          <a:xfrm rot="16200000">
            <a:off x="9868666" y="6582834"/>
            <a:ext cx="2335272" cy="2013165"/>
          </a:xfrm>
          <a:prstGeom prst="hexagon">
            <a:avLst/>
          </a:prstGeom>
          <a:noFill/>
          <a:ln w="76200">
            <a:solidFill>
              <a:srgbClr val="00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Sechseck 13">
            <a:extLst>
              <a:ext uri="{FF2B5EF4-FFF2-40B4-BE49-F238E27FC236}">
                <a16:creationId xmlns:a16="http://schemas.microsoft.com/office/drawing/2014/main" id="{42D9BDE8-2992-C6E2-3287-CE3753E9ABA4}"/>
              </a:ext>
            </a:extLst>
          </p:cNvPr>
          <p:cNvSpPr/>
          <p:nvPr/>
        </p:nvSpPr>
        <p:spPr>
          <a:xfrm rot="16200000">
            <a:off x="7539535" y="6582834"/>
            <a:ext cx="2335272" cy="2013165"/>
          </a:xfrm>
          <a:prstGeom prst="hexagon">
            <a:avLst/>
          </a:prstGeom>
          <a:noFill/>
          <a:ln w="76200">
            <a:solidFill>
              <a:srgbClr val="883E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fik 8" descr="Ein Bild, das Grafiken, Grafikdesign, Clipart, Kreativität enthält.&#10;&#10;KI-generierte Inhalte können fehlerhaft sein.">
            <a:extLst>
              <a:ext uri="{FF2B5EF4-FFF2-40B4-BE49-F238E27FC236}">
                <a16:creationId xmlns:a16="http://schemas.microsoft.com/office/drawing/2014/main" id="{CF9A4F85-8835-AB64-7A24-13DD17154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803" y="2724614"/>
            <a:ext cx="1272736" cy="1408769"/>
          </a:xfrm>
          <a:prstGeom prst="rect">
            <a:avLst/>
          </a:prstGeom>
        </p:spPr>
      </p:pic>
      <p:pic>
        <p:nvPicPr>
          <p:cNvPr id="1026" name="Picture 2" descr="Neu gegründet: FAU Kompetenzzentrum Lehre - Technische Fakultät">
            <a:extLst>
              <a:ext uri="{FF2B5EF4-FFF2-40B4-BE49-F238E27FC236}">
                <a16:creationId xmlns:a16="http://schemas.microsoft.com/office/drawing/2014/main" id="{5D8F2EBE-17C1-ECBB-8F87-014E293BF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285" y="899470"/>
            <a:ext cx="1529738" cy="86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9656763-3F5B-D967-3418-6510A28DF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697" y="5018113"/>
            <a:ext cx="1338914" cy="98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BA36C4C-A08C-FB08-6F3A-2ACCB98CE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5905" y="2708922"/>
            <a:ext cx="1480791" cy="138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Real Time Data Ingestion Platform (RTDIP) - LF Energy Foundation Artwork">
            <a:extLst>
              <a:ext uri="{FF2B5EF4-FFF2-40B4-BE49-F238E27FC236}">
                <a16:creationId xmlns:a16="http://schemas.microsoft.com/office/drawing/2014/main" id="{B18ADFB0-D8A6-2186-985C-2A85B1237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78" y="0"/>
            <a:ext cx="983717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9C4B586-34DA-B152-7C6A-BAC7792EC285}"/>
              </a:ext>
            </a:extLst>
          </p:cNvPr>
          <p:cNvSpPr txBox="1"/>
          <p:nvPr/>
        </p:nvSpPr>
        <p:spPr>
          <a:xfrm>
            <a:off x="1143995" y="181152"/>
            <a:ext cx="18278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>
                <a:gradFill flip="none" rotWithShape="1">
                  <a:gsLst>
                    <a:gs pos="0">
                      <a:srgbClr val="003399"/>
                    </a:gs>
                    <a:gs pos="100000">
                      <a:srgbClr val="B943A2"/>
                    </a:gs>
                  </a:gsLst>
                  <a:lin ang="0" scaled="1"/>
                  <a:tileRect/>
                </a:gradFill>
              </a:rPr>
              <a:t>RTDIP</a:t>
            </a:r>
            <a:endParaRPr lang="de-DE" sz="3600" b="1" dirty="0">
              <a:solidFill>
                <a:srgbClr val="FF0000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99A80DB-F167-F5B1-3062-5A4267252507}"/>
              </a:ext>
            </a:extLst>
          </p:cNvPr>
          <p:cNvSpPr txBox="1"/>
          <p:nvPr/>
        </p:nvSpPr>
        <p:spPr>
          <a:xfrm>
            <a:off x="2892533" y="181152"/>
            <a:ext cx="2476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b="1" dirty="0"/>
              <a:t>X</a:t>
            </a:r>
            <a:endParaRPr lang="de-DE" sz="3600" b="1" dirty="0">
              <a:solidFill>
                <a:srgbClr val="DA4040"/>
              </a:solidFill>
            </a:endParaRPr>
          </a:p>
        </p:txBody>
      </p:sp>
      <p:pic>
        <p:nvPicPr>
          <p:cNvPr id="3078" name="Picture 6" descr="@amosproj">
            <a:extLst>
              <a:ext uri="{FF2B5EF4-FFF2-40B4-BE49-F238E27FC236}">
                <a16:creationId xmlns:a16="http://schemas.microsoft.com/office/drawing/2014/main" id="{4085120E-AE9E-C24C-63AF-D97E05C42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541" y="177254"/>
            <a:ext cx="769441" cy="769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54B1483B-D9A3-6809-CD2F-94C5D21DC61E}"/>
              </a:ext>
            </a:extLst>
          </p:cNvPr>
          <p:cNvGrpSpPr/>
          <p:nvPr/>
        </p:nvGrpSpPr>
        <p:grpSpPr>
          <a:xfrm>
            <a:off x="669508" y="4138237"/>
            <a:ext cx="3962412" cy="523220"/>
            <a:chOff x="733803" y="4160519"/>
            <a:chExt cx="3962412" cy="523220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2CEA742E-3C4D-1745-043F-ABE316B06ACD}"/>
                </a:ext>
              </a:extLst>
            </p:cNvPr>
            <p:cNvGrpSpPr/>
            <p:nvPr/>
          </p:nvGrpSpPr>
          <p:grpSpPr>
            <a:xfrm>
              <a:off x="733803" y="4224615"/>
              <a:ext cx="366137" cy="372021"/>
              <a:chOff x="3513527" y="2844637"/>
              <a:chExt cx="2166506" cy="2201321"/>
            </a:xfrm>
          </p:grpSpPr>
          <p:sp>
            <p:nvSpPr>
              <p:cNvPr id="20" name="Sechseck 19">
                <a:extLst>
                  <a:ext uri="{FF2B5EF4-FFF2-40B4-BE49-F238E27FC236}">
                    <a16:creationId xmlns:a16="http://schemas.microsoft.com/office/drawing/2014/main" id="{CE5EA1ED-C13C-F62A-63EC-409BC53A34FC}"/>
                  </a:ext>
                </a:extLst>
              </p:cNvPr>
              <p:cNvSpPr/>
              <p:nvPr/>
            </p:nvSpPr>
            <p:spPr>
              <a:xfrm rot="16200000">
                <a:off x="4591909" y="2925239"/>
                <a:ext cx="1168726" cy="1007522"/>
              </a:xfrm>
              <a:prstGeom prst="hexagon">
                <a:avLst/>
              </a:prstGeom>
              <a:solidFill>
                <a:srgbClr val="883E9F"/>
              </a:solidFill>
              <a:ln w="76200">
                <a:solidFill>
                  <a:srgbClr val="883E9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" name="Sechseck 20">
                <a:extLst>
                  <a:ext uri="{FF2B5EF4-FFF2-40B4-BE49-F238E27FC236}">
                    <a16:creationId xmlns:a16="http://schemas.microsoft.com/office/drawing/2014/main" id="{99A45A0F-4C27-9D61-1FAE-209B0D77512F}"/>
                  </a:ext>
                </a:extLst>
              </p:cNvPr>
              <p:cNvSpPr/>
              <p:nvPr/>
            </p:nvSpPr>
            <p:spPr>
              <a:xfrm rot="16200000">
                <a:off x="4012418" y="3957834"/>
                <a:ext cx="1168726" cy="1007522"/>
              </a:xfrm>
              <a:prstGeom prst="hexagon">
                <a:avLst/>
              </a:prstGeom>
              <a:solidFill>
                <a:srgbClr val="D445A3"/>
              </a:solidFill>
              <a:ln w="76200">
                <a:solidFill>
                  <a:srgbClr val="D445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" name="Sechseck 21">
                <a:extLst>
                  <a:ext uri="{FF2B5EF4-FFF2-40B4-BE49-F238E27FC236}">
                    <a16:creationId xmlns:a16="http://schemas.microsoft.com/office/drawing/2014/main" id="{0C774AAE-94CA-2CAE-02A5-70267BF333C0}"/>
                  </a:ext>
                </a:extLst>
              </p:cNvPr>
              <p:cNvSpPr/>
              <p:nvPr/>
            </p:nvSpPr>
            <p:spPr>
              <a:xfrm rot="16200000">
                <a:off x="3432925" y="2925239"/>
                <a:ext cx="1168726" cy="1007522"/>
              </a:xfrm>
              <a:prstGeom prst="hexagon">
                <a:avLst/>
              </a:prstGeom>
              <a:solidFill>
                <a:srgbClr val="003299"/>
              </a:solidFill>
              <a:ln w="76200">
                <a:solidFill>
                  <a:srgbClr val="0033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DE2FD5B2-B6B4-C545-8B4D-076B966D5E57}"/>
                </a:ext>
              </a:extLst>
            </p:cNvPr>
            <p:cNvSpPr txBox="1"/>
            <p:nvPr/>
          </p:nvSpPr>
          <p:spPr>
            <a:xfrm>
              <a:off x="1219590" y="4160519"/>
              <a:ext cx="34766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b="1" dirty="0" err="1"/>
                <a:t>Created</a:t>
              </a:r>
              <a:r>
                <a:rPr lang="de-DE" sz="2800" b="1" dirty="0"/>
                <a:t> Value</a:t>
              </a:r>
            </a:p>
          </p:txBody>
        </p: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4952FC5A-BAA1-E99B-027D-75D5722D02DC}"/>
              </a:ext>
            </a:extLst>
          </p:cNvPr>
          <p:cNvGrpSpPr/>
          <p:nvPr/>
        </p:nvGrpSpPr>
        <p:grpSpPr>
          <a:xfrm>
            <a:off x="670031" y="1547621"/>
            <a:ext cx="3962412" cy="523220"/>
            <a:chOff x="733803" y="4160519"/>
            <a:chExt cx="3962412" cy="523220"/>
          </a:xfrm>
        </p:grpSpPr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A036C954-5636-A690-4230-D1C333DDD3D3}"/>
                </a:ext>
              </a:extLst>
            </p:cNvPr>
            <p:cNvGrpSpPr/>
            <p:nvPr/>
          </p:nvGrpSpPr>
          <p:grpSpPr>
            <a:xfrm>
              <a:off x="733803" y="4224615"/>
              <a:ext cx="366137" cy="372021"/>
              <a:chOff x="3513527" y="2844637"/>
              <a:chExt cx="2166506" cy="2201321"/>
            </a:xfrm>
          </p:grpSpPr>
          <p:sp>
            <p:nvSpPr>
              <p:cNvPr id="42" name="Sechseck 41">
                <a:extLst>
                  <a:ext uri="{FF2B5EF4-FFF2-40B4-BE49-F238E27FC236}">
                    <a16:creationId xmlns:a16="http://schemas.microsoft.com/office/drawing/2014/main" id="{29648950-392D-D4A3-9AC6-E5FB8829A597}"/>
                  </a:ext>
                </a:extLst>
              </p:cNvPr>
              <p:cNvSpPr/>
              <p:nvPr/>
            </p:nvSpPr>
            <p:spPr>
              <a:xfrm rot="16200000">
                <a:off x="4591909" y="2925239"/>
                <a:ext cx="1168726" cy="1007522"/>
              </a:xfrm>
              <a:prstGeom prst="hexagon">
                <a:avLst/>
              </a:prstGeom>
              <a:solidFill>
                <a:srgbClr val="883E9F"/>
              </a:solidFill>
              <a:ln w="76200">
                <a:solidFill>
                  <a:srgbClr val="883E9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3" name="Sechseck 42">
                <a:extLst>
                  <a:ext uri="{FF2B5EF4-FFF2-40B4-BE49-F238E27FC236}">
                    <a16:creationId xmlns:a16="http://schemas.microsoft.com/office/drawing/2014/main" id="{F37AEC9C-B5CE-2292-EF13-951B1C1E42F3}"/>
                  </a:ext>
                </a:extLst>
              </p:cNvPr>
              <p:cNvSpPr/>
              <p:nvPr/>
            </p:nvSpPr>
            <p:spPr>
              <a:xfrm rot="16200000">
                <a:off x="4012418" y="3957834"/>
                <a:ext cx="1168726" cy="1007522"/>
              </a:xfrm>
              <a:prstGeom prst="hexagon">
                <a:avLst/>
              </a:prstGeom>
              <a:solidFill>
                <a:srgbClr val="D445A3"/>
              </a:solidFill>
              <a:ln w="76200">
                <a:solidFill>
                  <a:srgbClr val="D445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4" name="Sechseck 43">
                <a:extLst>
                  <a:ext uri="{FF2B5EF4-FFF2-40B4-BE49-F238E27FC236}">
                    <a16:creationId xmlns:a16="http://schemas.microsoft.com/office/drawing/2014/main" id="{790BAB94-C35F-BEF7-57BA-C51DF2D7346D}"/>
                  </a:ext>
                </a:extLst>
              </p:cNvPr>
              <p:cNvSpPr/>
              <p:nvPr/>
            </p:nvSpPr>
            <p:spPr>
              <a:xfrm rot="16200000">
                <a:off x="3432925" y="2925239"/>
                <a:ext cx="1168726" cy="1007522"/>
              </a:xfrm>
              <a:prstGeom prst="hexagon">
                <a:avLst/>
              </a:prstGeom>
              <a:solidFill>
                <a:srgbClr val="003299"/>
              </a:solidFill>
              <a:ln w="76200">
                <a:solidFill>
                  <a:srgbClr val="00339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4B02CD1A-056A-12DB-4C40-299EE5177CE0}"/>
                </a:ext>
              </a:extLst>
            </p:cNvPr>
            <p:cNvSpPr txBox="1"/>
            <p:nvPr/>
          </p:nvSpPr>
          <p:spPr>
            <a:xfrm>
              <a:off x="1219590" y="4160519"/>
              <a:ext cx="34766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b="1" dirty="0"/>
                <a:t>Project Idea</a:t>
              </a: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72505631-8DBD-2464-3F53-D4B49741BBF4}"/>
              </a:ext>
            </a:extLst>
          </p:cNvPr>
          <p:cNvSpPr txBox="1"/>
          <p:nvPr/>
        </p:nvSpPr>
        <p:spPr>
          <a:xfrm>
            <a:off x="0" y="6449471"/>
            <a:ext cx="64784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00" dirty="0" err="1"/>
              <a:t>Scrum</a:t>
            </a:r>
            <a:r>
              <a:rPr lang="de-DE" sz="700" dirty="0"/>
              <a:t> Master: Luca Böhm (FAU)</a:t>
            </a:r>
          </a:p>
          <a:p>
            <a:r>
              <a:rPr lang="de-DE" sz="700" dirty="0" err="1"/>
              <a:t>Product</a:t>
            </a:r>
            <a:r>
              <a:rPr lang="de-DE" sz="700" dirty="0"/>
              <a:t> </a:t>
            </a:r>
            <a:r>
              <a:rPr lang="de-DE" sz="700" dirty="0" err="1"/>
              <a:t>Owners</a:t>
            </a:r>
            <a:r>
              <a:rPr lang="de-DE" sz="700" dirty="0"/>
              <a:t>: Patrick </a:t>
            </a:r>
            <a:r>
              <a:rPr lang="de-DE" sz="700" dirty="0" err="1"/>
              <a:t>Meusling</a:t>
            </a:r>
            <a:r>
              <a:rPr lang="de-DE" sz="700" dirty="0"/>
              <a:t> (TUB), </a:t>
            </a:r>
            <a:r>
              <a:rPr lang="de-DE" sz="700" dirty="0" err="1"/>
              <a:t>Hafidz</a:t>
            </a:r>
            <a:r>
              <a:rPr lang="de-DE" sz="700" dirty="0"/>
              <a:t> </a:t>
            </a:r>
            <a:r>
              <a:rPr lang="de-DE" sz="700" dirty="0" err="1"/>
              <a:t>Arifin</a:t>
            </a:r>
            <a:r>
              <a:rPr lang="de-DE" sz="700" dirty="0"/>
              <a:t> (TUB)</a:t>
            </a:r>
          </a:p>
          <a:p>
            <a:r>
              <a:rPr lang="de-DE" sz="700" dirty="0"/>
              <a:t>Developers: Christoph </a:t>
            </a:r>
            <a:r>
              <a:rPr lang="de-DE" sz="700" dirty="0" err="1"/>
              <a:t>Huy</a:t>
            </a:r>
            <a:r>
              <a:rPr lang="de-DE" sz="700" dirty="0"/>
              <a:t> (TUB), Rene Jokiel (FAU), Simon Selbig (TUB), Hannes </a:t>
            </a:r>
            <a:r>
              <a:rPr lang="de-DE" sz="700" dirty="0" err="1"/>
              <a:t>Pohnke</a:t>
            </a:r>
            <a:r>
              <a:rPr lang="de-DE" sz="700" dirty="0"/>
              <a:t> (TUB), Mehdi </a:t>
            </a:r>
            <a:r>
              <a:rPr lang="de-DE" sz="700" dirty="0" err="1"/>
              <a:t>Khabouze</a:t>
            </a:r>
            <a:r>
              <a:rPr lang="de-DE" sz="700" dirty="0"/>
              <a:t> (TUB)  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80B9037-9BCA-94B6-2AC3-758BF6DBB07B}"/>
              </a:ext>
            </a:extLst>
          </p:cNvPr>
          <p:cNvSpPr txBox="1"/>
          <p:nvPr/>
        </p:nvSpPr>
        <p:spPr>
          <a:xfrm>
            <a:off x="1500469" y="2117976"/>
            <a:ext cx="590669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project builds on the existing RTDIP initiative for centralized industrial datasets. It enhances dataset analysis and extends the platform with a forecasting-oriented pipeline. This allows future patterns to be derived from data and supports informed, data-driven business decisions.</a:t>
            </a:r>
            <a:endParaRPr lang="de-DE" dirty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3ECF189-73F8-918A-057F-DD1C5D09C101}"/>
              </a:ext>
            </a:extLst>
          </p:cNvPr>
          <p:cNvSpPr txBox="1"/>
          <p:nvPr/>
        </p:nvSpPr>
        <p:spPr>
          <a:xfrm>
            <a:off x="1500469" y="4721074"/>
            <a:ext cx="6851339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/>
              <a:t>-  Time Series </a:t>
            </a:r>
            <a:r>
              <a:rPr lang="de-DE" dirty="0" err="1"/>
              <a:t>Forecasting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4 different </a:t>
            </a:r>
            <a:r>
              <a:rPr lang="de-DE" dirty="0" err="1"/>
              <a:t>models</a:t>
            </a:r>
            <a:endParaRPr lang="de-DE" dirty="0"/>
          </a:p>
          <a:p>
            <a:r>
              <a:rPr lang="de-DE" dirty="0"/>
              <a:t>-  </a:t>
            </a:r>
            <a:r>
              <a:rPr lang="de-DE" dirty="0" err="1"/>
              <a:t>Anomaly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Time Series </a:t>
            </a:r>
            <a:r>
              <a:rPr lang="de-DE" dirty="0" err="1"/>
              <a:t>with</a:t>
            </a:r>
            <a:r>
              <a:rPr lang="de-DE" dirty="0"/>
              <a:t> 2 different </a:t>
            </a:r>
            <a:r>
              <a:rPr lang="de-DE" dirty="0" err="1"/>
              <a:t>approaches</a:t>
            </a:r>
            <a:endParaRPr lang="de-DE" dirty="0"/>
          </a:p>
          <a:p>
            <a:r>
              <a:rPr lang="de-DE" dirty="0"/>
              <a:t>-  Time Series </a:t>
            </a:r>
            <a:r>
              <a:rPr lang="de-DE" dirty="0" err="1"/>
              <a:t>Decomposition</a:t>
            </a:r>
            <a:endParaRPr lang="de-DE" dirty="0"/>
          </a:p>
          <a:p>
            <a:r>
              <a:rPr lang="de-DE" dirty="0"/>
              <a:t>-  New Data </a:t>
            </a:r>
            <a:r>
              <a:rPr lang="de-DE" dirty="0" err="1"/>
              <a:t>Preprocessing</a:t>
            </a:r>
            <a:r>
              <a:rPr lang="de-DE" dirty="0"/>
              <a:t> </a:t>
            </a:r>
            <a:r>
              <a:rPr lang="de-DE" dirty="0" err="1"/>
              <a:t>functionalities</a:t>
            </a:r>
            <a:endParaRPr lang="de-DE" dirty="0"/>
          </a:p>
          <a:p>
            <a:r>
              <a:rPr lang="de-DE" dirty="0"/>
              <a:t>-  Integrated </a:t>
            </a:r>
            <a:r>
              <a:rPr lang="de-DE" dirty="0" err="1"/>
              <a:t>visualization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new</a:t>
            </a:r>
            <a:r>
              <a:rPr lang="de-DE" dirty="0"/>
              <a:t> TS Features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1CB144A-0E75-B20D-4ED2-96EC0C93EB58}"/>
              </a:ext>
            </a:extLst>
          </p:cNvPr>
          <p:cNvSpPr/>
          <p:nvPr/>
        </p:nvSpPr>
        <p:spPr>
          <a:xfrm>
            <a:off x="1364411" y="4668098"/>
            <a:ext cx="6715839" cy="1632109"/>
          </a:xfrm>
          <a:prstGeom prst="roundRect">
            <a:avLst>
              <a:gd name="adj" fmla="val 4704"/>
            </a:avLst>
          </a:prstGeom>
          <a:solidFill>
            <a:srgbClr val="883E9F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891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Breitbild</PresentationFormat>
  <Paragraphs>14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Jokiel, Rene</dc:creator>
  <cp:lastModifiedBy>Jokiel, Rene</cp:lastModifiedBy>
  <cp:revision>9</cp:revision>
  <dcterms:created xsi:type="dcterms:W3CDTF">2026-01-21T12:55:50Z</dcterms:created>
  <dcterms:modified xsi:type="dcterms:W3CDTF">2026-01-26T15:27:27Z</dcterms:modified>
</cp:coreProperties>
</file>