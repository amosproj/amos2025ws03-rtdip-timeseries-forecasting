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embeddedFontLst>
    <p:embeddedFont>
      <p:font typeface="Play" panose="020B0604020202020204" charset="0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jZ/hdQ/RQz2bCyzcPm9xlxhhst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B5ACB933-57AA-A35C-7BC7-A8D7922F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D27989B4-3C05-E446-B1D6-822C41AC5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333DF709-17E9-98BD-5CEA-C90F02C22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C008E50C-F6BD-4E2C-4823-2403AD5B53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6797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nitts-&#10;überschrift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leich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 mit Überschrift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mit Überschrift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vertikaler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kaler Titel u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 rot="-5400000">
            <a:off x="8698518" y="4502627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D445A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 rot="-5400000">
            <a:off x="7539536" y="2422417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 rot="-5400000">
            <a:off x="8698519" y="342210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D445A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 rot="-5400000">
            <a:off x="9868665" y="2422417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883E9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 rot="-5400000">
            <a:off x="9857502" y="-1738000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883E9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-5400000">
            <a:off x="7539535" y="-1738000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 rot="-5400000">
            <a:off x="11027648" y="342206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rot="-5400000">
            <a:off x="11027648" y="4502627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 rot="-5400000">
            <a:off x="9868666" y="6582834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 rot="-5400000">
            <a:off x="7539535" y="6582834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883E9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" descr="Ein Bild, das Grafiken, Grafikdesign, Clipart, Kreativität enthält.&#10;&#10;KI-generierte Inhalte können fehlerhaft sein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803" y="2724614"/>
            <a:ext cx="1272736" cy="1408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 descr="Neu gegründet: FAU Kompetenzzentrum Lehre - Technische Fakultä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01285" y="899470"/>
            <a:ext cx="1529738" cy="860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96697" y="5018113"/>
            <a:ext cx="1338914" cy="982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95905" y="2708922"/>
            <a:ext cx="1480791" cy="138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 descr="Real Time Data Ingestion Platform (RTDIP) - LF Energy Foundation Artwor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0278" y="0"/>
            <a:ext cx="983717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/>
        </p:nvSpPr>
        <p:spPr>
          <a:xfrm>
            <a:off x="1144000" y="181150"/>
            <a:ext cx="2013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400" b="1" i="0" u="none" strike="noStrike" cap="none" dirty="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RTDIP</a:t>
            </a:r>
            <a:endParaRPr sz="3600" b="1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2892533" y="181152"/>
            <a:ext cx="24765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3600" b="1">
              <a:solidFill>
                <a:srgbClr val="DA4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" descr="@amosproj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02541" y="177254"/>
            <a:ext cx="769441" cy="76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"/>
          <p:cNvSpPr txBox="1"/>
          <p:nvPr/>
        </p:nvSpPr>
        <p:spPr>
          <a:xfrm>
            <a:off x="0" y="6449471"/>
            <a:ext cx="647843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 Master: Luca Böhm (FAU)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 Owners: Patrick Meusling (TUB), Hafidz Arifin (TUB)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Developers: Christoph Huy (TUB), Rene Jokiel (FAU), Simon Selbig (TUB), Hannes Pohnke (TUB), Mehdi Khabouze (KP)  </a:t>
            </a:r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15304" y="2615063"/>
            <a:ext cx="6878806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/>
              <a:t>Industrial Time Series Forecasting</a:t>
            </a:r>
          </a:p>
          <a:p>
            <a:pPr algn="ctr"/>
            <a:r>
              <a:rPr sz="3200" b="1" dirty="0"/>
              <a:t>&amp;</a:t>
            </a:r>
          </a:p>
          <a:p>
            <a:pPr algn="ctr"/>
            <a:r>
              <a:rPr sz="3200" b="1" dirty="0"/>
              <a:t>Anomaly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DE061732-56A1-4659-0A6F-F9902511D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73DEA73-52D3-5F59-F462-3DC741F29F9B}"/>
              </a:ext>
            </a:extLst>
          </p:cNvPr>
          <p:cNvSpPr/>
          <p:nvPr/>
        </p:nvSpPr>
        <p:spPr>
          <a:xfrm rot="-5400000">
            <a:off x="10868407" y="4502627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D445A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9A9BB6C7-2B54-86D3-74AC-49AC8F61BC9A}"/>
              </a:ext>
            </a:extLst>
          </p:cNvPr>
          <p:cNvSpPr/>
          <p:nvPr/>
        </p:nvSpPr>
        <p:spPr>
          <a:xfrm rot="-5400000">
            <a:off x="9709425" y="2422417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8C326393-3796-56BA-2B19-0264B56A7D69}"/>
              </a:ext>
            </a:extLst>
          </p:cNvPr>
          <p:cNvSpPr/>
          <p:nvPr/>
        </p:nvSpPr>
        <p:spPr>
          <a:xfrm rot="-5400000">
            <a:off x="10868408" y="342210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D445A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D0ABC502-B3C3-C5F5-98DC-4877F587C4DB}"/>
              </a:ext>
            </a:extLst>
          </p:cNvPr>
          <p:cNvSpPr/>
          <p:nvPr/>
        </p:nvSpPr>
        <p:spPr>
          <a:xfrm rot="-5400000">
            <a:off x="12038554" y="2422417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883E9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AA574445-1088-CDA2-7703-1A7A2DBF8CBD}"/>
              </a:ext>
            </a:extLst>
          </p:cNvPr>
          <p:cNvSpPr/>
          <p:nvPr/>
        </p:nvSpPr>
        <p:spPr>
          <a:xfrm rot="-5400000">
            <a:off x="12027391" y="-1738000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883E9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B90DFFE1-7664-9D4C-0D2F-7A02B5DC06C5}"/>
              </a:ext>
            </a:extLst>
          </p:cNvPr>
          <p:cNvSpPr/>
          <p:nvPr/>
        </p:nvSpPr>
        <p:spPr>
          <a:xfrm rot="-5400000">
            <a:off x="9709424" y="-1738000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A354C92B-73F6-2544-AC3F-B399FB945A21}"/>
              </a:ext>
            </a:extLst>
          </p:cNvPr>
          <p:cNvSpPr/>
          <p:nvPr/>
        </p:nvSpPr>
        <p:spPr>
          <a:xfrm rot="-5400000">
            <a:off x="13197537" y="342206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>
            <a:extLst>
              <a:ext uri="{FF2B5EF4-FFF2-40B4-BE49-F238E27FC236}">
                <a16:creationId xmlns:a16="http://schemas.microsoft.com/office/drawing/2014/main" id="{F16CC0B0-E7FE-0585-B138-5AFF63DBC113}"/>
              </a:ext>
            </a:extLst>
          </p:cNvPr>
          <p:cNvSpPr/>
          <p:nvPr/>
        </p:nvSpPr>
        <p:spPr>
          <a:xfrm rot="-5400000">
            <a:off x="13197537" y="4502627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>
            <a:extLst>
              <a:ext uri="{FF2B5EF4-FFF2-40B4-BE49-F238E27FC236}">
                <a16:creationId xmlns:a16="http://schemas.microsoft.com/office/drawing/2014/main" id="{D005785D-C8DB-181B-8756-249413757ABC}"/>
              </a:ext>
            </a:extLst>
          </p:cNvPr>
          <p:cNvSpPr/>
          <p:nvPr/>
        </p:nvSpPr>
        <p:spPr>
          <a:xfrm rot="-5400000">
            <a:off x="12038555" y="6582834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D58526BE-EF7C-F513-3C29-739EFB013544}"/>
              </a:ext>
            </a:extLst>
          </p:cNvPr>
          <p:cNvSpPr/>
          <p:nvPr/>
        </p:nvSpPr>
        <p:spPr>
          <a:xfrm rot="-5400000">
            <a:off x="9709424" y="6582834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883E9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" descr="Real Time Data Ingestion Platform (RTDIP) - LF Energy Foundation Artwork">
            <a:extLst>
              <a:ext uri="{FF2B5EF4-FFF2-40B4-BE49-F238E27FC236}">
                <a16:creationId xmlns:a16="http://schemas.microsoft.com/office/drawing/2014/main" id="{5D651E73-3DEC-13C5-05DB-67476EDDC5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278" y="0"/>
            <a:ext cx="983717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8E5B1B88-F00D-D002-7DA6-DA2FC5BFA6DC}"/>
              </a:ext>
            </a:extLst>
          </p:cNvPr>
          <p:cNvSpPr txBox="1"/>
          <p:nvPr/>
        </p:nvSpPr>
        <p:spPr>
          <a:xfrm>
            <a:off x="2892533" y="181152"/>
            <a:ext cx="24765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3600" b="1">
              <a:solidFill>
                <a:srgbClr val="DA4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" descr="@amosproj">
            <a:extLst>
              <a:ext uri="{FF2B5EF4-FFF2-40B4-BE49-F238E27FC236}">
                <a16:creationId xmlns:a16="http://schemas.microsoft.com/office/drawing/2014/main" id="{639EC3A3-CB27-70F4-DD2F-66EBE5B44F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2541" y="177254"/>
            <a:ext cx="769441" cy="76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D02138C2-48AD-D348-FA15-D80170C70903}"/>
              </a:ext>
            </a:extLst>
          </p:cNvPr>
          <p:cNvSpPr txBox="1"/>
          <p:nvPr/>
        </p:nvSpPr>
        <p:spPr>
          <a:xfrm>
            <a:off x="0" y="6449471"/>
            <a:ext cx="647843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 Master: Luca Böhm (FAU)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 Owners: Patrick Meusling (TUB), Hafidz Arifin (TUB)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Developers: Christoph Huy (TUB), Rene Jokiel (FAU), Simon Selbig (TUB), Hannes Pohnke (TUB), Mehdi Khabouze (KP)  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5D69FD-3399-2C1B-1DB6-3104C32E464C}"/>
              </a:ext>
            </a:extLst>
          </p:cNvPr>
          <p:cNvSpPr/>
          <p:nvPr/>
        </p:nvSpPr>
        <p:spPr>
          <a:xfrm>
            <a:off x="5522501" y="1498593"/>
            <a:ext cx="4032013" cy="907893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F8B537-F823-3CEF-07C6-1B8B16A1CEB2}"/>
              </a:ext>
            </a:extLst>
          </p:cNvPr>
          <p:cNvSpPr/>
          <p:nvPr/>
        </p:nvSpPr>
        <p:spPr>
          <a:xfrm>
            <a:off x="5522502" y="3034512"/>
            <a:ext cx="4032013" cy="907893"/>
          </a:xfrm>
          <a:prstGeom prst="rect">
            <a:avLst/>
          </a:prstGeom>
          <a:solidFill>
            <a:srgbClr val="D84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FC5038-3654-5316-5144-B2C015E9AC9B}"/>
              </a:ext>
            </a:extLst>
          </p:cNvPr>
          <p:cNvSpPr/>
          <p:nvPr/>
        </p:nvSpPr>
        <p:spPr>
          <a:xfrm>
            <a:off x="5522502" y="4507262"/>
            <a:ext cx="4032013" cy="907894"/>
          </a:xfrm>
          <a:prstGeom prst="rect">
            <a:avLst/>
          </a:prstGeom>
          <a:solidFill>
            <a:srgbClr val="7B3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LOAD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F1D6727C-E972-6BB0-0B8A-CE498AF30AAB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7538508" y="2406486"/>
            <a:ext cx="1" cy="628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DCC08A40-3C63-307A-ADBE-070D1DC6FE4F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7538509" y="3942405"/>
            <a:ext cx="0" cy="564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Google Shape;104;p1">
            <a:extLst>
              <a:ext uri="{FF2B5EF4-FFF2-40B4-BE49-F238E27FC236}">
                <a16:creationId xmlns:a16="http://schemas.microsoft.com/office/drawing/2014/main" id="{7F526D50-CE8B-BED5-AB4B-69761DCD0CC2}"/>
              </a:ext>
            </a:extLst>
          </p:cNvPr>
          <p:cNvSpPr txBox="1"/>
          <p:nvPr/>
        </p:nvSpPr>
        <p:spPr>
          <a:xfrm>
            <a:off x="1144000" y="181150"/>
            <a:ext cx="2013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400" b="1" i="0" u="none" strike="noStrike" cap="none" dirty="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RTDIP</a:t>
            </a:r>
            <a:endParaRPr sz="3600" b="1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127">
            <a:extLst>
              <a:ext uri="{FF2B5EF4-FFF2-40B4-BE49-F238E27FC236}">
                <a16:creationId xmlns:a16="http://schemas.microsoft.com/office/drawing/2014/main" id="{28F591FF-220C-DD4C-775B-CD0117FFF88F}"/>
              </a:ext>
            </a:extLst>
          </p:cNvPr>
          <p:cNvSpPr txBox="1"/>
          <p:nvPr/>
        </p:nvSpPr>
        <p:spPr>
          <a:xfrm>
            <a:off x="314128" y="1498593"/>
            <a:ext cx="433935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 sz="2800" b="1"/>
            </a:pPr>
            <a:r>
              <a:rPr dirty="0"/>
              <a:t>RTDIP in a Nutshell</a:t>
            </a:r>
          </a:p>
          <a:p>
            <a:pPr>
              <a:defRPr sz="1600"/>
            </a:pPr>
            <a:r>
              <a:rPr lang="de-DE" dirty="0">
                <a:sym typeface="Wingdings" panose="05000000000000000000" pitchFamily="2" charset="2"/>
              </a:rPr>
              <a:t>	 modular and </a:t>
            </a:r>
            <a:r>
              <a:rPr dirty="0"/>
              <a:t>extensible </a:t>
            </a:r>
            <a:endParaRPr lang="de-DE" dirty="0"/>
          </a:p>
          <a:p>
            <a:pPr>
              <a:defRPr sz="1600"/>
            </a:pPr>
            <a:r>
              <a:rPr lang="de-DE" dirty="0"/>
              <a:t>		</a:t>
            </a:r>
            <a:r>
              <a:rPr dirty="0"/>
              <a:t>ETL framework</a:t>
            </a:r>
            <a:br>
              <a:rPr dirty="0"/>
            </a:br>
            <a:endParaRPr dirty="0"/>
          </a:p>
          <a:p>
            <a:pPr>
              <a:defRPr sz="1600"/>
            </a:pPr>
            <a:r>
              <a:rPr b="1" dirty="0"/>
              <a:t>Extract:</a:t>
            </a:r>
            <a:r>
              <a:rPr dirty="0"/>
              <a:t> Ingest real-time and historical data from heterogeneous</a:t>
            </a:r>
            <a:r>
              <a:rPr lang="de-DE" dirty="0"/>
              <a:t> </a:t>
            </a:r>
            <a:r>
              <a:rPr dirty="0"/>
              <a:t>industrial sources </a:t>
            </a:r>
            <a:endParaRPr lang="de-DE" dirty="0"/>
          </a:p>
          <a:p>
            <a:pPr>
              <a:defRPr sz="1600"/>
            </a:pPr>
            <a:endParaRPr lang="de-DE" dirty="0"/>
          </a:p>
          <a:p>
            <a:pPr>
              <a:defRPr sz="1600"/>
            </a:pPr>
            <a:r>
              <a:rPr b="1" dirty="0"/>
              <a:t>Transform: </a:t>
            </a:r>
            <a:r>
              <a:rPr dirty="0"/>
              <a:t>Clean, validate, enrich and prepare time series data</a:t>
            </a:r>
            <a:r>
              <a:rPr lang="de-DE" dirty="0"/>
              <a:t> </a:t>
            </a:r>
            <a:r>
              <a:rPr dirty="0"/>
              <a:t>for downstream analytics and ML workloads</a:t>
            </a:r>
            <a:endParaRPr lang="de-DE" dirty="0"/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b="1" dirty="0"/>
              <a:t>Load:</a:t>
            </a:r>
            <a:r>
              <a:rPr dirty="0"/>
              <a:t> Persist processed data into data lakes, databases or</a:t>
            </a:r>
            <a:r>
              <a:rPr lang="de-DE" dirty="0"/>
              <a:t> </a:t>
            </a:r>
            <a:r>
              <a:rPr dirty="0"/>
              <a:t>analytics platforms</a:t>
            </a:r>
          </a:p>
        </p:txBody>
      </p:sp>
    </p:spTree>
    <p:extLst>
      <p:ext uri="{BB962C8B-B14F-4D97-AF65-F5344CB8AC3E}">
        <p14:creationId xmlns:p14="http://schemas.microsoft.com/office/powerpoint/2010/main" val="36341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/>
          <p:nvPr/>
        </p:nvSpPr>
        <p:spPr>
          <a:xfrm rot="-5400000">
            <a:off x="10868407" y="4502627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D445A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 rot="-5400000">
            <a:off x="9709425" y="2422417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 rot="-5400000">
            <a:off x="10868408" y="342210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D445A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 rot="-5400000">
            <a:off x="12038554" y="2422417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883E9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 rot="-5400000">
            <a:off x="12027391" y="-1738000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883E9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 rot="-5400000">
            <a:off x="9709424" y="-1738000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 rot="-5400000">
            <a:off x="13197537" y="342206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 rot="-5400000">
            <a:off x="13197537" y="4502627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 rot="-5400000">
            <a:off x="12038555" y="6582834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0033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 rot="-5400000">
            <a:off x="9709424" y="6582834"/>
            <a:ext cx="2335272" cy="2013165"/>
          </a:xfrm>
          <a:prstGeom prst="hexagon">
            <a:avLst>
              <a:gd name="adj" fmla="val 25000"/>
              <a:gd name="vf" fmla="val 115470"/>
            </a:avLst>
          </a:prstGeom>
          <a:noFill/>
          <a:ln w="76200" cap="flat" cmpd="sng">
            <a:solidFill>
              <a:srgbClr val="883E9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" descr="Real Time Data Ingestion Platform (RTDIP) - LF Energy Foundation Artwor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278" y="0"/>
            <a:ext cx="983717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"/>
          <p:cNvSpPr txBox="1"/>
          <p:nvPr/>
        </p:nvSpPr>
        <p:spPr>
          <a:xfrm>
            <a:off x="2892533" y="181152"/>
            <a:ext cx="24765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3600" b="1">
              <a:solidFill>
                <a:srgbClr val="DA4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" descr="@amosproj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2541" y="177254"/>
            <a:ext cx="769441" cy="76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"/>
          <p:cNvSpPr txBox="1"/>
          <p:nvPr/>
        </p:nvSpPr>
        <p:spPr>
          <a:xfrm>
            <a:off x="0" y="6449471"/>
            <a:ext cx="647843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 Master: Luca Böhm (FAU)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 Owners: Patrick Meusling (TUB), Hafidz Arifin (TUB)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Developers: Christoph Huy (TUB), Rene Jokiel (FAU), Simon Selbig (TUB), Hannes Pohnke (TUB), Mehdi Khabouze (KP)  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522501" y="1498593"/>
            <a:ext cx="4032013" cy="907893"/>
          </a:xfrm>
          <a:prstGeom prst="rect">
            <a:avLst/>
          </a:prstGeom>
          <a:solidFill>
            <a:srgbClr val="0052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522502" y="3034512"/>
            <a:ext cx="4032013" cy="907893"/>
          </a:xfrm>
          <a:prstGeom prst="rect">
            <a:avLst/>
          </a:prstGeom>
          <a:solidFill>
            <a:srgbClr val="D84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2502" y="4507262"/>
            <a:ext cx="4032013" cy="907894"/>
          </a:xfrm>
          <a:prstGeom prst="rect">
            <a:avLst/>
          </a:prstGeom>
          <a:solidFill>
            <a:srgbClr val="7B3FB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LOAD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4D1A66EF-5DD6-AC2A-C61E-D3C60E243FF8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7538508" y="2406486"/>
            <a:ext cx="1" cy="628026"/>
          </a:xfrm>
          <a:prstGeom prst="straightConnector1">
            <a:avLst/>
          </a:prstGeom>
          <a:ln>
            <a:solidFill>
              <a:schemeClr val="dk1">
                <a:shade val="95000"/>
                <a:satMod val="105000"/>
                <a:alpha val="3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D7B53333-2F51-0199-0089-69B9C39B0C5D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7538509" y="3942405"/>
            <a:ext cx="0" cy="564857"/>
          </a:xfrm>
          <a:prstGeom prst="straightConnector1">
            <a:avLst/>
          </a:prstGeom>
          <a:ln>
            <a:solidFill>
              <a:schemeClr val="dk1">
                <a:shade val="95000"/>
                <a:satMod val="105000"/>
                <a:alpha val="3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Google Shape;104;p1">
            <a:extLst>
              <a:ext uri="{FF2B5EF4-FFF2-40B4-BE49-F238E27FC236}">
                <a16:creationId xmlns:a16="http://schemas.microsoft.com/office/drawing/2014/main" id="{98DC71A0-A69F-A091-BA11-DE1015391F69}"/>
              </a:ext>
            </a:extLst>
          </p:cNvPr>
          <p:cNvSpPr txBox="1"/>
          <p:nvPr/>
        </p:nvSpPr>
        <p:spPr>
          <a:xfrm>
            <a:off x="1144000" y="181150"/>
            <a:ext cx="2013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400" b="1" i="0" u="none" strike="noStrike" cap="none" dirty="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RTDIP</a:t>
            </a:r>
            <a:endParaRPr sz="3600" b="1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TextBox 127">
            <a:extLst>
              <a:ext uri="{FF2B5EF4-FFF2-40B4-BE49-F238E27FC236}">
                <a16:creationId xmlns:a16="http://schemas.microsoft.com/office/drawing/2014/main" id="{5B9A2795-D119-57E6-86ED-1B2DF12E2204}"/>
              </a:ext>
            </a:extLst>
          </p:cNvPr>
          <p:cNvSpPr txBox="1"/>
          <p:nvPr/>
        </p:nvSpPr>
        <p:spPr>
          <a:xfrm>
            <a:off x="314128" y="1498593"/>
            <a:ext cx="4589642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 sz="2800" b="1"/>
            </a:pPr>
            <a:r>
              <a:rPr lang="en-US" dirty="0"/>
              <a:t>Our Additions</a:t>
            </a:r>
          </a:p>
          <a:p>
            <a:pPr>
              <a:defRPr sz="1600"/>
            </a:pPr>
            <a:r>
              <a:rPr lang="en-US" dirty="0">
                <a:sym typeface="Wingdings" panose="05000000000000000000" pitchFamily="2" charset="2"/>
              </a:rPr>
              <a:t>	 Advanced Time Series Analytics</a:t>
            </a:r>
            <a:br>
              <a:rPr dirty="0"/>
            </a:br>
            <a:endParaRPr dirty="0"/>
          </a:p>
          <a:p>
            <a:pPr>
              <a:defRPr sz="1600"/>
            </a:pPr>
            <a:r>
              <a:rPr lang="en-US" sz="1600" b="1" dirty="0"/>
              <a:t>Model-based TS-Forecasting:</a:t>
            </a:r>
            <a:r>
              <a:rPr lang="en-US" sz="1600" dirty="0"/>
              <a:t> </a:t>
            </a:r>
          </a:p>
          <a:p>
            <a:pPr marL="285750" lvl="3" indent="-285750">
              <a:buFontTx/>
              <a:buChar char="-"/>
              <a:defRPr sz="1600"/>
            </a:pPr>
            <a:r>
              <a:rPr lang="en-US" dirty="0" err="1"/>
              <a:t>AutoGluon</a:t>
            </a:r>
            <a:endParaRPr lang="en-US" dirty="0"/>
          </a:p>
          <a:p>
            <a:pPr marL="285750" lvl="3" indent="-285750">
              <a:buFontTx/>
              <a:buChar char="-"/>
              <a:defRPr sz="1600"/>
            </a:pPr>
            <a:r>
              <a:rPr lang="en-US" dirty="0" err="1"/>
              <a:t>XGBoost</a:t>
            </a:r>
            <a:r>
              <a:rPr lang="en-US" dirty="0"/>
              <a:t> </a:t>
            </a:r>
          </a:p>
          <a:p>
            <a:pPr marL="285750" lvl="3" indent="-285750">
              <a:buFontTx/>
              <a:buChar char="-"/>
              <a:defRPr sz="1600"/>
            </a:pPr>
            <a:r>
              <a:rPr lang="en-US" dirty="0"/>
              <a:t>LSTM </a:t>
            </a:r>
          </a:p>
          <a:p>
            <a:pPr marL="285750" lvl="3" indent="-285750">
              <a:buFontTx/>
              <a:buChar char="-"/>
              <a:defRPr sz="1600"/>
            </a:pPr>
            <a:r>
              <a:rPr lang="en-US" dirty="0" err="1"/>
              <a:t>CatBoost</a:t>
            </a:r>
            <a:r>
              <a:rPr lang="en-US" dirty="0"/>
              <a:t> </a:t>
            </a:r>
          </a:p>
          <a:p>
            <a:pPr marL="285750" lvl="6" indent="-285750">
              <a:buFontTx/>
              <a:buChar char="-"/>
              <a:defRPr sz="1600"/>
            </a:pPr>
            <a:r>
              <a:rPr lang="en-US" dirty="0" err="1"/>
              <a:t>Prohphet</a:t>
            </a:r>
            <a:r>
              <a:rPr lang="en-US" dirty="0"/>
              <a:t>	</a:t>
            </a:r>
          </a:p>
          <a:p>
            <a:pPr>
              <a:defRPr sz="1600"/>
            </a:pPr>
            <a:endParaRPr lang="de-DE" dirty="0"/>
          </a:p>
          <a:p>
            <a:pPr>
              <a:defRPr sz="1600"/>
            </a:pPr>
            <a:r>
              <a:rPr lang="en-US" sz="1600" b="1" dirty="0"/>
              <a:t>Decomposition:</a:t>
            </a:r>
            <a:r>
              <a:rPr lang="en-US" sz="1600" dirty="0"/>
              <a:t> </a:t>
            </a:r>
          </a:p>
          <a:p>
            <a:pPr marL="285750" indent="-285750">
              <a:buFontTx/>
              <a:buChar char="-"/>
              <a:defRPr sz="1600"/>
            </a:pPr>
            <a:r>
              <a:rPr lang="en-US" dirty="0"/>
              <a:t>Classical decomposition</a:t>
            </a:r>
          </a:p>
          <a:p>
            <a:pPr marL="285750" indent="-285750">
              <a:buFontTx/>
              <a:buChar char="-"/>
              <a:defRPr sz="1600"/>
            </a:pPr>
            <a:r>
              <a:rPr lang="en-US" dirty="0"/>
              <a:t>STL, MSTL methods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lang="de-DE" sz="1600" b="1" dirty="0" err="1"/>
              <a:t>Anomaly</a:t>
            </a:r>
            <a:r>
              <a:rPr lang="de-DE" sz="1600" b="1" dirty="0"/>
              <a:t> </a:t>
            </a:r>
            <a:r>
              <a:rPr lang="de-DE" sz="1600" b="1" dirty="0" err="1"/>
              <a:t>Detection</a:t>
            </a:r>
            <a:r>
              <a:rPr lang="de-DE" sz="1600" b="1" dirty="0"/>
              <a:t>:</a:t>
            </a:r>
            <a:r>
              <a:rPr lang="de-DE" sz="1600" dirty="0"/>
              <a:t> </a:t>
            </a:r>
          </a:p>
          <a:p>
            <a:pPr>
              <a:defRPr sz="1600"/>
            </a:pPr>
            <a:r>
              <a:rPr lang="de-DE" dirty="0"/>
              <a:t>- </a:t>
            </a:r>
            <a:r>
              <a:rPr lang="en-US" dirty="0"/>
              <a:t>statistical MAD and IQR approaches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Breitbild</PresentationFormat>
  <Paragraphs>50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Wingdings</vt:lpstr>
      <vt:lpstr>Play</vt:lpstr>
      <vt:lpstr>Office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Jokiel, Rene</dc:creator>
  <cp:lastModifiedBy>TU-Pseudonym 9192976496773596</cp:lastModifiedBy>
  <cp:revision>7</cp:revision>
  <dcterms:created xsi:type="dcterms:W3CDTF">2026-01-21T12:55:50Z</dcterms:created>
  <dcterms:modified xsi:type="dcterms:W3CDTF">2026-01-27T11:37:27Z</dcterms:modified>
</cp:coreProperties>
</file>